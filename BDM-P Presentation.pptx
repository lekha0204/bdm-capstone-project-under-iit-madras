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aleway"/>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bold.fntdata"/><Relationship Id="rId16" Type="http://schemas.openxmlformats.org/officeDocument/2006/relationships/font" Target="fonts/Raleway-regular.fntdata"/><Relationship Id="rId5" Type="http://schemas.openxmlformats.org/officeDocument/2006/relationships/notesMaster" Target="notesMasters/notesMaster1.xml"/><Relationship Id="rId19" Type="http://schemas.openxmlformats.org/officeDocument/2006/relationships/font" Target="fonts/Raleway-boldItalic.fntdata"/><Relationship Id="rId6" Type="http://schemas.openxmlformats.org/officeDocument/2006/relationships/slide" Target="slides/slide1.xml"/><Relationship Id="rId18"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a3c89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a3c8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c6fa3c898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c6fa3c89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7b27c92e8a_0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7b27c92e8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c6fa3c898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c6fa3c89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a3c898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a3c89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7897e29975_0_1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7897e29975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7897e29975_0_15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7897e29975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7897e29975_0_16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7897e29975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7897e29975_0_17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7897e29975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c6fa3c898_0_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c6fa3c89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rgbClr val="6F201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342375" y="264475"/>
            <a:ext cx="53271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3691950" y="1673675"/>
            <a:ext cx="48765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14" name="Google Shape;14;p2"/>
          <p:cNvPicPr preferRelativeResize="0"/>
          <p:nvPr/>
        </p:nvPicPr>
        <p:blipFill>
          <a:blip r:embed="rId2">
            <a:alphaModFix/>
          </a:blip>
          <a:stretch>
            <a:fillRect/>
          </a:stretch>
        </p:blipFill>
        <p:spPr>
          <a:xfrm>
            <a:off x="289525" y="331500"/>
            <a:ext cx="2097076" cy="20970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80700" y="2651100"/>
            <a:ext cx="8982600" cy="2411700"/>
          </a:xfrm>
          <a:prstGeom prst="rect">
            <a:avLst/>
          </a:prstGeom>
          <a:solidFill>
            <a:srgbClr val="6F20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636800" y="80700"/>
            <a:ext cx="4426500" cy="4982100"/>
          </a:xfrm>
          <a:prstGeom prst="rect">
            <a:avLst/>
          </a:prstGeom>
          <a:solidFill>
            <a:srgbClr val="6F20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1" name="Google Shape;41;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a:solidFill>
            <a:srgbClr val="CDA74C"/>
          </a:solidFill>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1" name="Google Shape;51;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2" name="Google Shape;52;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2693325" y="700200"/>
            <a:ext cx="6270600" cy="1473600"/>
          </a:xfrm>
          <a:prstGeom prst="rect">
            <a:avLst/>
          </a:prstGeom>
        </p:spPr>
        <p:txBody>
          <a:bodyPr anchorCtr="0" anchor="b" bIns="91425" lIns="91425" spcFirstLastPara="1" rIns="91425" wrap="square" tIns="91425">
            <a:normAutofit fontScale="90000"/>
          </a:bodyPr>
          <a:lstStyle/>
          <a:p>
            <a:pPr indent="0" lvl="0" marL="0" rtl="0" algn="ctr">
              <a:lnSpc>
                <a:spcPct val="115000"/>
              </a:lnSpc>
              <a:spcBef>
                <a:spcPts val="2400"/>
              </a:spcBef>
              <a:spcAft>
                <a:spcPts val="600"/>
              </a:spcAft>
              <a:buNone/>
            </a:pPr>
            <a:r>
              <a:rPr lang="en" sz="2800">
                <a:solidFill>
                  <a:srgbClr val="6F2019"/>
                </a:solidFill>
                <a:latin typeface="Times New Roman"/>
                <a:ea typeface="Times New Roman"/>
                <a:cs typeface="Times New Roman"/>
                <a:sym typeface="Times New Roman"/>
              </a:rPr>
              <a:t>ENHANCING OPERATIONAL EFFICIENCY, SPACE AND INVENTORY MANAGEMENT AT ‘JJ BEAUTY SALON’</a:t>
            </a:r>
            <a:endParaRPr>
              <a:solidFill>
                <a:srgbClr val="6F2019"/>
              </a:solidFill>
              <a:latin typeface="Times New Roman"/>
              <a:ea typeface="Times New Roman"/>
              <a:cs typeface="Times New Roman"/>
              <a:sym typeface="Times New Roman"/>
            </a:endParaRPr>
          </a:p>
        </p:txBody>
      </p:sp>
      <p:sp>
        <p:nvSpPr>
          <p:cNvPr id="60" name="Google Shape;60;p13"/>
          <p:cNvSpPr txBox="1"/>
          <p:nvPr>
            <p:ph idx="1" type="subTitle"/>
          </p:nvPr>
        </p:nvSpPr>
        <p:spPr>
          <a:xfrm>
            <a:off x="2920650" y="2021850"/>
            <a:ext cx="6100200" cy="5499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None/>
            </a:pPr>
            <a:r>
              <a:rPr lang="en" sz="2000">
                <a:solidFill>
                  <a:schemeClr val="dk2"/>
                </a:solidFill>
                <a:latin typeface="Times New Roman"/>
                <a:ea typeface="Times New Roman"/>
                <a:cs typeface="Times New Roman"/>
                <a:sym typeface="Times New Roman"/>
              </a:rPr>
              <a:t> Kalavagunta Sai Sri Lekha | </a:t>
            </a:r>
            <a:r>
              <a:rPr lang="en" sz="1700">
                <a:solidFill>
                  <a:srgbClr val="262626"/>
                </a:solidFill>
                <a:latin typeface="Times New Roman"/>
                <a:ea typeface="Times New Roman"/>
                <a:cs typeface="Times New Roman"/>
                <a:sym typeface="Times New Roman"/>
              </a:rPr>
              <a:t>23f2003461 | </a:t>
            </a:r>
            <a:r>
              <a:rPr lang="en" sz="2000">
                <a:solidFill>
                  <a:schemeClr val="dk2"/>
                </a:solidFill>
                <a:latin typeface="Times New Roman"/>
                <a:ea typeface="Times New Roman"/>
                <a:cs typeface="Times New Roman"/>
                <a:sym typeface="Times New Roman"/>
              </a:rPr>
              <a:t>May 2025 Term</a:t>
            </a:r>
            <a:endParaRPr sz="2000">
              <a:solidFill>
                <a:schemeClr val="dk2"/>
              </a:solidFill>
              <a:latin typeface="Times New Roman"/>
              <a:ea typeface="Times New Roman"/>
              <a:cs typeface="Times New Roman"/>
              <a:sym typeface="Times New Roman"/>
            </a:endParaRPr>
          </a:p>
        </p:txBody>
      </p:sp>
      <p:sp>
        <p:nvSpPr>
          <p:cNvPr id="61" name="Google Shape;61;p13"/>
          <p:cNvSpPr/>
          <p:nvPr/>
        </p:nvSpPr>
        <p:spPr>
          <a:xfrm>
            <a:off x="1869225" y="3179575"/>
            <a:ext cx="5636100" cy="1288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600">
                <a:solidFill>
                  <a:srgbClr val="CDA74C"/>
                </a:solidFill>
                <a:latin typeface="Times New Roman"/>
                <a:ea typeface="Times New Roman"/>
                <a:cs typeface="Times New Roman"/>
                <a:sym typeface="Times New Roman"/>
              </a:rPr>
              <a:t>BUSINESS DATA MANAGEMENT PROJECT PRESENTATION</a:t>
            </a:r>
            <a:endParaRPr b="1" sz="2600">
              <a:solidFill>
                <a:srgbClr val="CDA74C"/>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idx="1" type="subTitle"/>
          </p:nvPr>
        </p:nvSpPr>
        <p:spPr>
          <a:xfrm>
            <a:off x="270997" y="496145"/>
            <a:ext cx="4045200" cy="1345500"/>
          </a:xfrm>
          <a:prstGeom prst="rect">
            <a:avLst/>
          </a:prstGeom>
        </p:spPr>
        <p:txBody>
          <a:bodyPr anchorCtr="0" anchor="t" bIns="91425" lIns="91425" spcFirstLastPara="1" rIns="91425" wrap="square" tIns="91425">
            <a:noAutofit/>
          </a:bodyPr>
          <a:lstStyle/>
          <a:p>
            <a:pPr indent="-355600" lvl="0" marL="457200" rtl="0" algn="l">
              <a:lnSpc>
                <a:spcPct val="95000"/>
              </a:lnSpc>
              <a:spcBef>
                <a:spcPts val="1200"/>
              </a:spcBef>
              <a:spcAft>
                <a:spcPts val="0"/>
              </a:spcAft>
              <a:buClr>
                <a:schemeClr val="dk2"/>
              </a:buClr>
              <a:buSzPts val="2000"/>
              <a:buFont typeface="Arial"/>
              <a:buChar char="●"/>
            </a:pPr>
            <a:r>
              <a:rPr lang="en">
                <a:solidFill>
                  <a:srgbClr val="CDA74C"/>
                </a:solidFill>
                <a:latin typeface="Times New Roman"/>
                <a:ea typeface="Times New Roman"/>
                <a:cs typeface="Times New Roman"/>
                <a:sym typeface="Times New Roman"/>
              </a:rPr>
              <a:t>JJ Beauty Salon</a:t>
            </a:r>
            <a:r>
              <a:rPr lang="en">
                <a:solidFill>
                  <a:schemeClr val="dk2"/>
                </a:solidFill>
                <a:latin typeface="Times New Roman"/>
                <a:ea typeface="Times New Roman"/>
                <a:cs typeface="Times New Roman"/>
                <a:sym typeface="Times New Roman"/>
              </a:rPr>
              <a:t>, a B2C established in August 2024 by Mrs. Janet Elisha, offers various beauty services including home options.</a:t>
            </a:r>
            <a:br>
              <a:rPr lang="en">
                <a:solidFill>
                  <a:schemeClr val="dk2"/>
                </a:solidFill>
                <a:latin typeface="Times New Roman"/>
                <a:ea typeface="Times New Roman"/>
                <a:cs typeface="Times New Roman"/>
                <a:sym typeface="Times New Roman"/>
              </a:rPr>
            </a:br>
            <a:endParaRPr>
              <a:solidFill>
                <a:schemeClr val="dk2"/>
              </a:solidFill>
              <a:latin typeface="Times New Roman"/>
              <a:ea typeface="Times New Roman"/>
              <a:cs typeface="Times New Roman"/>
              <a:sym typeface="Times New Roman"/>
            </a:endParaRPr>
          </a:p>
          <a:p>
            <a:pPr indent="-361950" lvl="0" marL="457200" rtl="0" algn="l">
              <a:lnSpc>
                <a:spcPct val="95000"/>
              </a:lnSpc>
              <a:spcBef>
                <a:spcPts val="0"/>
              </a:spcBef>
              <a:spcAft>
                <a:spcPts val="0"/>
              </a:spcAft>
              <a:buClr>
                <a:schemeClr val="dk2"/>
              </a:buClr>
              <a:buSzPts val="2100"/>
              <a:buFont typeface="Times New Roman"/>
              <a:buChar char="●"/>
            </a:pPr>
            <a:r>
              <a:rPr lang="en">
                <a:solidFill>
                  <a:schemeClr val="dk2"/>
                </a:solidFill>
                <a:latin typeface="Times New Roman"/>
                <a:ea typeface="Times New Roman"/>
                <a:cs typeface="Times New Roman"/>
                <a:sym typeface="Times New Roman"/>
              </a:rPr>
              <a:t>The salon faces challenges with space, manual inventory, and inefficient paper-based appointment scheduling.</a:t>
            </a:r>
            <a:endParaRPr>
              <a:solidFill>
                <a:schemeClr val="dk2"/>
              </a:solidFill>
              <a:latin typeface="Times New Roman"/>
              <a:ea typeface="Times New Roman"/>
              <a:cs typeface="Times New Roman"/>
              <a:sym typeface="Times New Roman"/>
            </a:endParaRPr>
          </a:p>
          <a:p>
            <a:pPr indent="0" lvl="0" marL="0" rtl="0" algn="ctr">
              <a:lnSpc>
                <a:spcPct val="80000"/>
              </a:lnSpc>
              <a:spcBef>
                <a:spcPts val="1200"/>
              </a:spcBef>
              <a:spcAft>
                <a:spcPts val="0"/>
              </a:spcAft>
              <a:buSzPts val="605"/>
              <a:buNone/>
            </a:pPr>
            <a:r>
              <a:t/>
            </a:r>
            <a:endParaRPr sz="1455">
              <a:latin typeface="Times New Roman"/>
              <a:ea typeface="Times New Roman"/>
              <a:cs typeface="Times New Roman"/>
              <a:sym typeface="Times New Roman"/>
            </a:endParaRPr>
          </a:p>
        </p:txBody>
      </p:sp>
      <p:pic>
        <p:nvPicPr>
          <p:cNvPr id="67" name="Google Shape;67;p14"/>
          <p:cNvPicPr preferRelativeResize="0"/>
          <p:nvPr/>
        </p:nvPicPr>
        <p:blipFill>
          <a:blip r:embed="rId3">
            <a:alphaModFix/>
          </a:blip>
          <a:stretch>
            <a:fillRect/>
          </a:stretch>
        </p:blipFill>
        <p:spPr>
          <a:xfrm>
            <a:off x="4853025" y="1181700"/>
            <a:ext cx="3973925" cy="23451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rgbClr val="6F2019"/>
                </a:solidFill>
                <a:latin typeface="Times New Roman"/>
                <a:ea typeface="Times New Roman"/>
                <a:cs typeface="Times New Roman"/>
                <a:sym typeface="Times New Roman"/>
              </a:rPr>
              <a:t>Services Provided by Salon</a:t>
            </a:r>
            <a:endParaRPr>
              <a:solidFill>
                <a:srgbClr val="6F2019"/>
              </a:solidFill>
              <a:latin typeface="Times New Roman"/>
              <a:ea typeface="Times New Roman"/>
              <a:cs typeface="Times New Roman"/>
              <a:sym typeface="Times New Roman"/>
            </a:endParaRPr>
          </a:p>
        </p:txBody>
      </p:sp>
      <p:sp>
        <p:nvSpPr>
          <p:cNvPr id="73" name="Google Shape;73;p15"/>
          <p:cNvSpPr txBox="1"/>
          <p:nvPr/>
        </p:nvSpPr>
        <p:spPr>
          <a:xfrm>
            <a:off x="5288025" y="711650"/>
            <a:ext cx="3000000" cy="3795600"/>
          </a:xfrm>
          <a:prstGeom prst="rect">
            <a:avLst/>
          </a:prstGeom>
          <a:noFill/>
          <a:ln>
            <a:noFill/>
          </a:ln>
        </p:spPr>
        <p:txBody>
          <a:bodyPr anchorCtr="0" anchor="t" bIns="91425" lIns="91425" spcFirstLastPara="1" rIns="91425" wrap="square" tIns="91425">
            <a:spAutoFit/>
          </a:bodyPr>
          <a:lstStyle/>
          <a:p>
            <a:pPr indent="-374650" lvl="0" marL="457200" rtl="0" algn="l">
              <a:lnSpc>
                <a:spcPct val="115000"/>
              </a:lnSpc>
              <a:spcBef>
                <a:spcPts val="0"/>
              </a:spcBef>
              <a:spcAft>
                <a:spcPts val="0"/>
              </a:spcAft>
              <a:buClr>
                <a:schemeClr val="lt1"/>
              </a:buClr>
              <a:buSzPts val="2300"/>
              <a:buFont typeface="Times New Roman"/>
              <a:buChar char="●"/>
            </a:pPr>
            <a:r>
              <a:rPr lang="en" sz="1500">
                <a:solidFill>
                  <a:schemeClr val="lt1"/>
                </a:solidFill>
                <a:latin typeface="Times New Roman"/>
                <a:ea typeface="Times New Roman"/>
                <a:cs typeface="Times New Roman"/>
                <a:sym typeface="Times New Roman"/>
              </a:rPr>
              <a:t>Eyebrow Threading</a:t>
            </a:r>
            <a:endParaRPr sz="1500">
              <a:solidFill>
                <a:schemeClr val="lt1"/>
              </a:solidFill>
              <a:latin typeface="Times New Roman"/>
              <a:ea typeface="Times New Roman"/>
              <a:cs typeface="Times New Roman"/>
              <a:sym typeface="Times New Roman"/>
            </a:endParaRPr>
          </a:p>
          <a:p>
            <a:pPr indent="-374650" lvl="0" marL="457200" rtl="0" algn="l">
              <a:lnSpc>
                <a:spcPct val="115000"/>
              </a:lnSpc>
              <a:spcBef>
                <a:spcPts val="0"/>
              </a:spcBef>
              <a:spcAft>
                <a:spcPts val="0"/>
              </a:spcAft>
              <a:buClr>
                <a:schemeClr val="lt1"/>
              </a:buClr>
              <a:buSzPts val="2300"/>
              <a:buFont typeface="Times New Roman"/>
              <a:buChar char="●"/>
            </a:pPr>
            <a:r>
              <a:rPr lang="en" sz="1500">
                <a:solidFill>
                  <a:schemeClr val="lt1"/>
                </a:solidFill>
                <a:latin typeface="Times New Roman"/>
                <a:ea typeface="Times New Roman"/>
                <a:cs typeface="Times New Roman"/>
                <a:sym typeface="Times New Roman"/>
              </a:rPr>
              <a:t>Keratin Treatment</a:t>
            </a:r>
            <a:endParaRPr sz="1500">
              <a:solidFill>
                <a:schemeClr val="lt1"/>
              </a:solidFill>
              <a:latin typeface="Times New Roman"/>
              <a:ea typeface="Times New Roman"/>
              <a:cs typeface="Times New Roman"/>
              <a:sym typeface="Times New Roman"/>
            </a:endParaRPr>
          </a:p>
          <a:p>
            <a:pPr indent="-374650" lvl="0" marL="457200" rtl="0" algn="l">
              <a:lnSpc>
                <a:spcPct val="115000"/>
              </a:lnSpc>
              <a:spcBef>
                <a:spcPts val="0"/>
              </a:spcBef>
              <a:spcAft>
                <a:spcPts val="0"/>
              </a:spcAft>
              <a:buClr>
                <a:schemeClr val="lt1"/>
              </a:buClr>
              <a:buSzPts val="2300"/>
              <a:buFont typeface="Times New Roman"/>
              <a:buChar char="●"/>
            </a:pPr>
            <a:r>
              <a:rPr lang="en" sz="1500">
                <a:solidFill>
                  <a:schemeClr val="lt1"/>
                </a:solidFill>
                <a:latin typeface="Times New Roman"/>
                <a:ea typeface="Times New Roman"/>
                <a:cs typeface="Times New Roman"/>
                <a:sym typeface="Times New Roman"/>
              </a:rPr>
              <a:t>Bridal Makeup</a:t>
            </a:r>
            <a:endParaRPr sz="1500">
              <a:solidFill>
                <a:schemeClr val="lt1"/>
              </a:solidFill>
              <a:latin typeface="Times New Roman"/>
              <a:ea typeface="Times New Roman"/>
              <a:cs typeface="Times New Roman"/>
              <a:sym typeface="Times New Roman"/>
            </a:endParaRPr>
          </a:p>
          <a:p>
            <a:pPr indent="-374650" lvl="0" marL="457200" rtl="0" algn="l">
              <a:lnSpc>
                <a:spcPct val="115000"/>
              </a:lnSpc>
              <a:spcBef>
                <a:spcPts val="0"/>
              </a:spcBef>
              <a:spcAft>
                <a:spcPts val="0"/>
              </a:spcAft>
              <a:buClr>
                <a:schemeClr val="lt1"/>
              </a:buClr>
              <a:buSzPts val="2300"/>
              <a:buFont typeface="Times New Roman"/>
              <a:buChar char="●"/>
            </a:pPr>
            <a:r>
              <a:rPr lang="en" sz="1500">
                <a:solidFill>
                  <a:schemeClr val="lt1"/>
                </a:solidFill>
                <a:latin typeface="Times New Roman"/>
                <a:ea typeface="Times New Roman"/>
                <a:cs typeface="Times New Roman"/>
                <a:sym typeface="Times New Roman"/>
              </a:rPr>
              <a:t>Nail Extensions</a:t>
            </a:r>
            <a:endParaRPr sz="1500">
              <a:solidFill>
                <a:schemeClr val="lt1"/>
              </a:solidFill>
              <a:latin typeface="Times New Roman"/>
              <a:ea typeface="Times New Roman"/>
              <a:cs typeface="Times New Roman"/>
              <a:sym typeface="Times New Roman"/>
            </a:endParaRPr>
          </a:p>
          <a:p>
            <a:pPr indent="-374650" lvl="0" marL="457200" rtl="0" algn="l">
              <a:lnSpc>
                <a:spcPct val="115000"/>
              </a:lnSpc>
              <a:spcBef>
                <a:spcPts val="0"/>
              </a:spcBef>
              <a:spcAft>
                <a:spcPts val="0"/>
              </a:spcAft>
              <a:buClr>
                <a:schemeClr val="lt1"/>
              </a:buClr>
              <a:buSzPts val="2300"/>
              <a:buFont typeface="Times New Roman"/>
              <a:buChar char="●"/>
            </a:pPr>
            <a:r>
              <a:rPr lang="en" sz="1500">
                <a:solidFill>
                  <a:schemeClr val="lt1"/>
                </a:solidFill>
                <a:latin typeface="Times New Roman"/>
                <a:ea typeface="Times New Roman"/>
                <a:cs typeface="Times New Roman"/>
                <a:sym typeface="Times New Roman"/>
              </a:rPr>
              <a:t>Saree Draping</a:t>
            </a:r>
            <a:endParaRPr sz="1500">
              <a:solidFill>
                <a:schemeClr val="lt1"/>
              </a:solidFill>
              <a:latin typeface="Times New Roman"/>
              <a:ea typeface="Times New Roman"/>
              <a:cs typeface="Times New Roman"/>
              <a:sym typeface="Times New Roman"/>
            </a:endParaRPr>
          </a:p>
          <a:p>
            <a:pPr indent="-374650" lvl="0" marL="457200" rtl="0" algn="l">
              <a:lnSpc>
                <a:spcPct val="115000"/>
              </a:lnSpc>
              <a:spcBef>
                <a:spcPts val="0"/>
              </a:spcBef>
              <a:spcAft>
                <a:spcPts val="0"/>
              </a:spcAft>
              <a:buClr>
                <a:schemeClr val="lt1"/>
              </a:buClr>
              <a:buSzPts val="2300"/>
              <a:buFont typeface="Times New Roman"/>
              <a:buChar char="●"/>
            </a:pPr>
            <a:r>
              <a:rPr lang="en" sz="1500">
                <a:solidFill>
                  <a:schemeClr val="lt1"/>
                </a:solidFill>
                <a:latin typeface="Times New Roman"/>
                <a:ea typeface="Times New Roman"/>
                <a:cs typeface="Times New Roman"/>
                <a:sym typeface="Times New Roman"/>
              </a:rPr>
              <a:t>Back Massage</a:t>
            </a:r>
            <a:endParaRPr sz="1500">
              <a:solidFill>
                <a:schemeClr val="lt1"/>
              </a:solidFill>
              <a:latin typeface="Times New Roman"/>
              <a:ea typeface="Times New Roman"/>
              <a:cs typeface="Times New Roman"/>
              <a:sym typeface="Times New Roman"/>
            </a:endParaRPr>
          </a:p>
          <a:p>
            <a:pPr indent="-374650" lvl="0" marL="457200" rtl="0" algn="l">
              <a:lnSpc>
                <a:spcPct val="115000"/>
              </a:lnSpc>
              <a:spcBef>
                <a:spcPts val="0"/>
              </a:spcBef>
              <a:spcAft>
                <a:spcPts val="0"/>
              </a:spcAft>
              <a:buClr>
                <a:schemeClr val="lt1"/>
              </a:buClr>
              <a:buSzPts val="2300"/>
              <a:buFont typeface="Times New Roman"/>
              <a:buChar char="●"/>
            </a:pPr>
            <a:r>
              <a:rPr lang="en" sz="1500">
                <a:solidFill>
                  <a:schemeClr val="lt1"/>
                </a:solidFill>
                <a:latin typeface="Times New Roman"/>
                <a:ea typeface="Times New Roman"/>
                <a:cs typeface="Times New Roman"/>
                <a:sym typeface="Times New Roman"/>
              </a:rPr>
              <a:t>D-Tan</a:t>
            </a:r>
            <a:endParaRPr sz="1500">
              <a:solidFill>
                <a:schemeClr val="lt1"/>
              </a:solidFill>
              <a:latin typeface="Times New Roman"/>
              <a:ea typeface="Times New Roman"/>
              <a:cs typeface="Times New Roman"/>
              <a:sym typeface="Times New Roman"/>
            </a:endParaRPr>
          </a:p>
          <a:p>
            <a:pPr indent="-374650" lvl="0" marL="457200" rtl="0" algn="l">
              <a:lnSpc>
                <a:spcPct val="115000"/>
              </a:lnSpc>
              <a:spcBef>
                <a:spcPts val="0"/>
              </a:spcBef>
              <a:spcAft>
                <a:spcPts val="0"/>
              </a:spcAft>
              <a:buClr>
                <a:schemeClr val="lt1"/>
              </a:buClr>
              <a:buSzPts val="2300"/>
              <a:buFont typeface="Times New Roman"/>
              <a:buChar char="●"/>
            </a:pPr>
            <a:r>
              <a:rPr lang="en" sz="1500">
                <a:solidFill>
                  <a:schemeClr val="lt1"/>
                </a:solidFill>
                <a:latin typeface="Times New Roman"/>
                <a:ea typeface="Times New Roman"/>
                <a:cs typeface="Times New Roman"/>
                <a:sym typeface="Times New Roman"/>
              </a:rPr>
              <a:t>Facial</a:t>
            </a:r>
            <a:endParaRPr sz="1500">
              <a:solidFill>
                <a:schemeClr val="lt1"/>
              </a:solidFill>
              <a:latin typeface="Times New Roman"/>
              <a:ea typeface="Times New Roman"/>
              <a:cs typeface="Times New Roman"/>
              <a:sym typeface="Times New Roman"/>
            </a:endParaRPr>
          </a:p>
          <a:p>
            <a:pPr indent="-374650" lvl="0" marL="457200" rtl="0" algn="l">
              <a:lnSpc>
                <a:spcPct val="115000"/>
              </a:lnSpc>
              <a:spcBef>
                <a:spcPts val="0"/>
              </a:spcBef>
              <a:spcAft>
                <a:spcPts val="0"/>
              </a:spcAft>
              <a:buClr>
                <a:schemeClr val="lt1"/>
              </a:buClr>
              <a:buSzPts val="2300"/>
              <a:buFont typeface="Times New Roman"/>
              <a:buChar char="●"/>
            </a:pPr>
            <a:r>
              <a:rPr lang="en" sz="1500">
                <a:solidFill>
                  <a:schemeClr val="lt1"/>
                </a:solidFill>
                <a:latin typeface="Times New Roman"/>
                <a:ea typeface="Times New Roman"/>
                <a:cs typeface="Times New Roman"/>
                <a:sym typeface="Times New Roman"/>
              </a:rPr>
              <a:t>Nail Art</a:t>
            </a:r>
            <a:endParaRPr sz="23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idx="1" type="body"/>
          </p:nvPr>
        </p:nvSpPr>
        <p:spPr>
          <a:xfrm>
            <a:off x="311700" y="994250"/>
            <a:ext cx="2732400" cy="357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rgbClr val="6F2019"/>
                </a:solidFill>
                <a:latin typeface="Times New Roman"/>
                <a:ea typeface="Times New Roman"/>
                <a:cs typeface="Times New Roman"/>
                <a:sym typeface="Times New Roman"/>
              </a:rPr>
              <a:t>Problems</a:t>
            </a:r>
            <a:endParaRPr b="1" sz="2400">
              <a:solidFill>
                <a:srgbClr val="6F2019"/>
              </a:solidFill>
              <a:latin typeface="Times New Roman"/>
              <a:ea typeface="Times New Roman"/>
              <a:cs typeface="Times New Roman"/>
              <a:sym typeface="Times New Roman"/>
            </a:endParaRPr>
          </a:p>
          <a:p>
            <a:pPr indent="0" lvl="0" marL="0" rtl="0" algn="l">
              <a:spcBef>
                <a:spcPts val="1200"/>
              </a:spcBef>
              <a:spcAft>
                <a:spcPts val="1200"/>
              </a:spcAft>
              <a:buNone/>
            </a:pPr>
            <a:r>
              <a:rPr lang="en" sz="1600">
                <a:solidFill>
                  <a:schemeClr val="dk2"/>
                </a:solidFill>
                <a:latin typeface="Times New Roman"/>
                <a:ea typeface="Times New Roman"/>
                <a:cs typeface="Times New Roman"/>
                <a:sym typeface="Times New Roman"/>
              </a:rPr>
              <a:t>JJ Beauty Salon faces inefficiencies due to manual appointment scheduling, inventory tracking, and record-keeping, causing long wait times, stock issues, and limited business insights.</a:t>
            </a:r>
            <a:endParaRPr sz="2100">
              <a:solidFill>
                <a:srgbClr val="000000"/>
              </a:solidFill>
              <a:latin typeface="Times New Roman"/>
              <a:ea typeface="Times New Roman"/>
              <a:cs typeface="Times New Roman"/>
              <a:sym typeface="Times New Roman"/>
            </a:endParaRPr>
          </a:p>
        </p:txBody>
      </p:sp>
      <p:sp>
        <p:nvSpPr>
          <p:cNvPr id="79" name="Google Shape;79;p16"/>
          <p:cNvSpPr txBox="1"/>
          <p:nvPr>
            <p:ph idx="2" type="body"/>
          </p:nvPr>
        </p:nvSpPr>
        <p:spPr>
          <a:xfrm>
            <a:off x="3164700" y="994250"/>
            <a:ext cx="2814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None/>
            </a:pPr>
            <a:r>
              <a:rPr b="1" lang="en" sz="2400">
                <a:solidFill>
                  <a:srgbClr val="6F2019"/>
                </a:solidFill>
                <a:latin typeface="Times New Roman"/>
                <a:ea typeface="Times New Roman"/>
                <a:cs typeface="Times New Roman"/>
                <a:sym typeface="Times New Roman"/>
              </a:rPr>
              <a:t>Data Collected</a:t>
            </a:r>
            <a:endParaRPr b="1" sz="2400">
              <a:solidFill>
                <a:srgbClr val="6F2019"/>
              </a:solidFill>
              <a:latin typeface="Times New Roman"/>
              <a:ea typeface="Times New Roman"/>
              <a:cs typeface="Times New Roman"/>
              <a:sym typeface="Times New Roman"/>
            </a:endParaRPr>
          </a:p>
          <a:p>
            <a:pPr indent="0" lvl="0" marL="0" rtl="0" algn="l">
              <a:spcBef>
                <a:spcPts val="1200"/>
              </a:spcBef>
              <a:spcAft>
                <a:spcPts val="1200"/>
              </a:spcAft>
              <a:buNone/>
            </a:pPr>
            <a:r>
              <a:rPr lang="en" sz="1600">
                <a:solidFill>
                  <a:schemeClr val="dk2"/>
                </a:solidFill>
                <a:highlight>
                  <a:srgbClr val="FFFFFF"/>
                </a:highlight>
                <a:latin typeface="Times New Roman"/>
                <a:ea typeface="Times New Roman"/>
                <a:cs typeface="Times New Roman"/>
                <a:sym typeface="Times New Roman"/>
              </a:rPr>
              <a:t>Data was collected directly from the salon owner’s handwritten records, covering services rendered, fees charged, and inventory usage. The analysis period was Feb 1st to March 4th, 2025. </a:t>
            </a:r>
            <a:endParaRPr b="1" sz="2600">
              <a:solidFill>
                <a:srgbClr val="6F2019"/>
              </a:solidFill>
              <a:latin typeface="Times New Roman"/>
              <a:ea typeface="Times New Roman"/>
              <a:cs typeface="Times New Roman"/>
              <a:sym typeface="Times New Roman"/>
            </a:endParaRPr>
          </a:p>
        </p:txBody>
      </p:sp>
      <p:sp>
        <p:nvSpPr>
          <p:cNvPr id="80" name="Google Shape;80;p16"/>
          <p:cNvSpPr txBox="1"/>
          <p:nvPr>
            <p:ph idx="2" type="body"/>
          </p:nvPr>
        </p:nvSpPr>
        <p:spPr>
          <a:xfrm>
            <a:off x="6050800" y="994250"/>
            <a:ext cx="2934000" cy="372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None/>
            </a:pPr>
            <a:r>
              <a:rPr b="1" lang="en" sz="2400">
                <a:solidFill>
                  <a:srgbClr val="6F2019"/>
                </a:solidFill>
                <a:latin typeface="Times New Roman"/>
                <a:ea typeface="Times New Roman"/>
                <a:cs typeface="Times New Roman"/>
                <a:sym typeface="Times New Roman"/>
              </a:rPr>
              <a:t>Methods of Analysis</a:t>
            </a:r>
            <a:endParaRPr b="1" sz="2400">
              <a:solidFill>
                <a:srgbClr val="6F2019"/>
              </a:solidFill>
              <a:latin typeface="Times New Roman"/>
              <a:ea typeface="Times New Roman"/>
              <a:cs typeface="Times New Roman"/>
              <a:sym typeface="Times New Roman"/>
            </a:endParaRPr>
          </a:p>
          <a:p>
            <a:pPr indent="0" lvl="0" marL="0" rtl="0" algn="l">
              <a:spcBef>
                <a:spcPts val="1200"/>
              </a:spcBef>
              <a:spcAft>
                <a:spcPts val="1200"/>
              </a:spcAft>
              <a:buNone/>
            </a:pPr>
            <a:r>
              <a:rPr lang="en" sz="1600">
                <a:solidFill>
                  <a:schemeClr val="dk2"/>
                </a:solidFill>
                <a:latin typeface="Times New Roman"/>
                <a:ea typeface="Times New Roman"/>
                <a:cs typeface="Times New Roman"/>
                <a:sym typeface="Times New Roman"/>
              </a:rPr>
              <a:t>Pareto Analysis, ABC Analysis, Revenue Summary and Descriptive Statistics.</a:t>
            </a:r>
            <a:endParaRPr sz="1800">
              <a:solidFill>
                <a:schemeClr val="dk2"/>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602400"/>
          </a:xfrm>
          <a:prstGeom prst="rect">
            <a:avLst/>
          </a:prstGeom>
          <a:solidFill>
            <a:srgbClr val="6F2019"/>
          </a:solidFill>
          <a:ln cap="flat" cmpd="sng" w="9525">
            <a:solidFill>
              <a:srgbClr val="CDA74C"/>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SzPts val="990"/>
              <a:buNone/>
            </a:pPr>
            <a:r>
              <a:rPr b="0" lang="en" sz="2200">
                <a:solidFill>
                  <a:schemeClr val="lt1"/>
                </a:solidFill>
                <a:latin typeface="Times New Roman"/>
                <a:ea typeface="Times New Roman"/>
                <a:cs typeface="Times New Roman"/>
                <a:sym typeface="Times New Roman"/>
              </a:rPr>
              <a:t>Service Performance and Inventory Cost </a:t>
            </a:r>
            <a:r>
              <a:rPr b="0" lang="en" sz="2200">
                <a:solidFill>
                  <a:schemeClr val="lt1"/>
                </a:solidFill>
                <a:latin typeface="Times New Roman"/>
                <a:ea typeface="Times New Roman"/>
                <a:cs typeface="Times New Roman"/>
                <a:sym typeface="Times New Roman"/>
              </a:rPr>
              <a:t>Overview</a:t>
            </a:r>
            <a:endParaRPr b="0" sz="2200">
              <a:solidFill>
                <a:schemeClr val="lt1"/>
              </a:solidFill>
              <a:latin typeface="Times New Roman"/>
              <a:ea typeface="Times New Roman"/>
              <a:cs typeface="Times New Roman"/>
              <a:sym typeface="Times New Roman"/>
            </a:endParaRPr>
          </a:p>
        </p:txBody>
      </p:sp>
      <p:pic>
        <p:nvPicPr>
          <p:cNvPr id="86" name="Google Shape;86;p17"/>
          <p:cNvPicPr preferRelativeResize="0"/>
          <p:nvPr/>
        </p:nvPicPr>
        <p:blipFill>
          <a:blip r:embed="rId3">
            <a:alphaModFix/>
          </a:blip>
          <a:stretch>
            <a:fillRect/>
          </a:stretch>
        </p:blipFill>
        <p:spPr>
          <a:xfrm>
            <a:off x="576925" y="1110793"/>
            <a:ext cx="3354200" cy="3220032"/>
          </a:xfrm>
          <a:prstGeom prst="rect">
            <a:avLst/>
          </a:prstGeom>
          <a:noFill/>
          <a:ln>
            <a:noFill/>
          </a:ln>
        </p:spPr>
      </p:pic>
      <p:sp>
        <p:nvSpPr>
          <p:cNvPr id="87" name="Google Shape;87;p17"/>
          <p:cNvSpPr txBox="1"/>
          <p:nvPr/>
        </p:nvSpPr>
        <p:spPr>
          <a:xfrm>
            <a:off x="497250" y="4330825"/>
            <a:ext cx="8149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Times New Roman"/>
                <a:ea typeface="Times New Roman"/>
                <a:cs typeface="Times New Roman"/>
                <a:sym typeface="Times New Roman"/>
              </a:rPr>
              <a:t>Keratin treatments and bridal makeup bring in big earnings but also demand more resources, while everyday services like eyebrow threading and facials keep things running with low costs and high volume like ‘</a:t>
            </a:r>
            <a:r>
              <a:rPr lang="en" sz="1200">
                <a:solidFill>
                  <a:schemeClr val="dk2"/>
                </a:solidFill>
                <a:latin typeface="Times New Roman"/>
                <a:ea typeface="Times New Roman"/>
                <a:cs typeface="Times New Roman"/>
                <a:sym typeface="Times New Roman"/>
              </a:rPr>
              <a:t>threading’ </a:t>
            </a:r>
            <a:r>
              <a:rPr lang="en" sz="1200">
                <a:solidFill>
                  <a:schemeClr val="dk2"/>
                </a:solidFill>
                <a:latin typeface="Times New Roman"/>
                <a:ea typeface="Times New Roman"/>
                <a:cs typeface="Times New Roman"/>
                <a:sym typeface="Times New Roman"/>
              </a:rPr>
              <a:t>attracting lots of frequent clients at lower prices, and the premium services staying less frequent but highly profitable.</a:t>
            </a:r>
            <a:endParaRPr sz="1200">
              <a:solidFill>
                <a:schemeClr val="dk2"/>
              </a:solidFill>
              <a:latin typeface="Times New Roman"/>
              <a:ea typeface="Times New Roman"/>
              <a:cs typeface="Times New Roman"/>
              <a:sym typeface="Times New Roman"/>
            </a:endParaRPr>
          </a:p>
        </p:txBody>
      </p:sp>
      <p:sp>
        <p:nvSpPr>
          <p:cNvPr id="88" name="Google Shape;88;p1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89" name="Google Shape;89;p17"/>
          <p:cNvPicPr preferRelativeResize="0"/>
          <p:nvPr/>
        </p:nvPicPr>
        <p:blipFill>
          <a:blip r:embed="rId4">
            <a:alphaModFix/>
          </a:blip>
          <a:stretch>
            <a:fillRect/>
          </a:stretch>
        </p:blipFill>
        <p:spPr>
          <a:xfrm>
            <a:off x="4298800" y="1244400"/>
            <a:ext cx="4191599" cy="2589650"/>
          </a:xfrm>
          <a:prstGeom prst="rect">
            <a:avLst/>
          </a:prstGeom>
          <a:noFill/>
          <a:ln>
            <a:noFill/>
          </a:ln>
        </p:spPr>
      </p:pic>
      <p:sp>
        <p:nvSpPr>
          <p:cNvPr id="90" name="Google Shape;90;p17"/>
          <p:cNvSpPr txBox="1"/>
          <p:nvPr/>
        </p:nvSpPr>
        <p:spPr>
          <a:xfrm>
            <a:off x="1877225" y="4140250"/>
            <a:ext cx="61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Source Sans Pro"/>
                <a:ea typeface="Source Sans Pro"/>
                <a:cs typeface="Source Sans Pro"/>
                <a:sym typeface="Source Sans Pro"/>
              </a:rPr>
              <a:t>Figure 1</a:t>
            </a:r>
            <a:endParaRPr sz="700">
              <a:solidFill>
                <a:schemeClr val="lt2"/>
              </a:solidFill>
              <a:latin typeface="Source Sans Pro"/>
              <a:ea typeface="Source Sans Pro"/>
              <a:cs typeface="Source Sans Pro"/>
              <a:sym typeface="Source Sans Pro"/>
            </a:endParaRPr>
          </a:p>
        </p:txBody>
      </p:sp>
      <p:sp>
        <p:nvSpPr>
          <p:cNvPr id="91" name="Google Shape;91;p17"/>
          <p:cNvSpPr txBox="1"/>
          <p:nvPr/>
        </p:nvSpPr>
        <p:spPr>
          <a:xfrm>
            <a:off x="6220625" y="3735750"/>
            <a:ext cx="61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Source Sans Pro"/>
                <a:ea typeface="Source Sans Pro"/>
                <a:cs typeface="Source Sans Pro"/>
                <a:sym typeface="Source Sans Pro"/>
              </a:rPr>
              <a:t>Figure 2</a:t>
            </a:r>
            <a:endParaRPr sz="700">
              <a:solidFill>
                <a:schemeClr val="lt2"/>
              </a:solidFill>
              <a:latin typeface="Source Sans Pro"/>
              <a:ea typeface="Source Sans Pro"/>
              <a:cs typeface="Source Sans Pro"/>
              <a:sym typeface="Source Sans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00" y="445025"/>
            <a:ext cx="8520600" cy="602400"/>
          </a:xfrm>
          <a:prstGeom prst="rect">
            <a:avLst/>
          </a:prstGeom>
          <a:solidFill>
            <a:srgbClr val="6F2019"/>
          </a:solidFill>
          <a:ln cap="flat" cmpd="sng" w="9525">
            <a:solidFill>
              <a:srgbClr val="CDA74C"/>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SzPts val="990"/>
              <a:buNone/>
            </a:pPr>
            <a:r>
              <a:rPr b="0" lang="en" sz="2200">
                <a:solidFill>
                  <a:schemeClr val="lt1"/>
                </a:solidFill>
                <a:latin typeface="Times New Roman"/>
                <a:ea typeface="Times New Roman"/>
                <a:cs typeface="Times New Roman"/>
                <a:sym typeface="Times New Roman"/>
              </a:rPr>
              <a:t>ABC Analysis </a:t>
            </a:r>
            <a:endParaRPr b="0" sz="2200">
              <a:solidFill>
                <a:schemeClr val="lt1"/>
              </a:solidFill>
              <a:latin typeface="Times New Roman"/>
              <a:ea typeface="Times New Roman"/>
              <a:cs typeface="Times New Roman"/>
              <a:sym typeface="Times New Roman"/>
            </a:endParaRPr>
          </a:p>
        </p:txBody>
      </p:sp>
      <p:sp>
        <p:nvSpPr>
          <p:cNvPr id="97" name="Google Shape;97;p18"/>
          <p:cNvSpPr txBox="1"/>
          <p:nvPr/>
        </p:nvSpPr>
        <p:spPr>
          <a:xfrm>
            <a:off x="497250" y="4178425"/>
            <a:ext cx="81495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Times New Roman"/>
                <a:ea typeface="Times New Roman"/>
                <a:cs typeface="Times New Roman"/>
                <a:sym typeface="Times New Roman"/>
              </a:rPr>
              <a:t>The ABC analysis and Pareto chart show that the Keratin Kit alone drives over 43% of inventory costs, making it a critical 'A' item for close monitoring, while the Makeup Kit falls into the 'B' category with moderate importance. All other items form the low-impact 'C' group, highlighting that a few key products dominate spending and should guide JJ Beauty Salon’s inventory planning.</a:t>
            </a:r>
            <a:endParaRPr sz="1200">
              <a:solidFill>
                <a:schemeClr val="dk2"/>
              </a:solidFill>
              <a:latin typeface="Times New Roman"/>
              <a:ea typeface="Times New Roman"/>
              <a:cs typeface="Times New Roman"/>
              <a:sym typeface="Times New Roman"/>
            </a:endParaRPr>
          </a:p>
        </p:txBody>
      </p:sp>
      <p:sp>
        <p:nvSpPr>
          <p:cNvPr id="98" name="Google Shape;98;p1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99" name="Google Shape;99;p18"/>
          <p:cNvPicPr preferRelativeResize="0"/>
          <p:nvPr/>
        </p:nvPicPr>
        <p:blipFill>
          <a:blip r:embed="rId3">
            <a:alphaModFix/>
          </a:blip>
          <a:stretch>
            <a:fillRect/>
          </a:stretch>
        </p:blipFill>
        <p:spPr>
          <a:xfrm>
            <a:off x="311699" y="1309059"/>
            <a:ext cx="3617275" cy="2480416"/>
          </a:xfrm>
          <a:prstGeom prst="rect">
            <a:avLst/>
          </a:prstGeom>
          <a:noFill/>
          <a:ln>
            <a:noFill/>
          </a:ln>
        </p:spPr>
      </p:pic>
      <p:pic>
        <p:nvPicPr>
          <p:cNvPr id="100" name="Google Shape;100;p18"/>
          <p:cNvPicPr preferRelativeResize="0"/>
          <p:nvPr/>
        </p:nvPicPr>
        <p:blipFill>
          <a:blip r:embed="rId4">
            <a:alphaModFix/>
          </a:blip>
          <a:stretch>
            <a:fillRect/>
          </a:stretch>
        </p:blipFill>
        <p:spPr>
          <a:xfrm>
            <a:off x="4386100" y="1145750"/>
            <a:ext cx="4260651" cy="2807025"/>
          </a:xfrm>
          <a:prstGeom prst="rect">
            <a:avLst/>
          </a:prstGeom>
          <a:noFill/>
          <a:ln>
            <a:noFill/>
          </a:ln>
        </p:spPr>
      </p:pic>
      <p:sp>
        <p:nvSpPr>
          <p:cNvPr id="101" name="Google Shape;101;p18"/>
          <p:cNvSpPr txBox="1"/>
          <p:nvPr/>
        </p:nvSpPr>
        <p:spPr>
          <a:xfrm>
            <a:off x="6210425" y="3952775"/>
            <a:ext cx="61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Source Sans Pro"/>
                <a:ea typeface="Source Sans Pro"/>
                <a:cs typeface="Source Sans Pro"/>
                <a:sym typeface="Source Sans Pro"/>
              </a:rPr>
              <a:t>Figure 3</a:t>
            </a:r>
            <a:endParaRPr sz="700">
              <a:solidFill>
                <a:schemeClr val="lt2"/>
              </a:solidFill>
              <a:latin typeface="Source Sans Pro"/>
              <a:ea typeface="Source Sans Pro"/>
              <a:cs typeface="Source Sans Pro"/>
              <a:sym typeface="Source Sans Pro"/>
            </a:endParaRPr>
          </a:p>
        </p:txBody>
      </p:sp>
      <p:sp>
        <p:nvSpPr>
          <p:cNvPr id="102" name="Google Shape;102;p18"/>
          <p:cNvSpPr txBox="1"/>
          <p:nvPr/>
        </p:nvSpPr>
        <p:spPr>
          <a:xfrm>
            <a:off x="1814338" y="3839725"/>
            <a:ext cx="61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Source Sans Pro"/>
                <a:ea typeface="Source Sans Pro"/>
                <a:cs typeface="Source Sans Pro"/>
                <a:sym typeface="Source Sans Pro"/>
              </a:rPr>
              <a:t>Table 1</a:t>
            </a:r>
            <a:endParaRPr sz="700">
              <a:solidFill>
                <a:schemeClr val="lt2"/>
              </a:solidFill>
              <a:latin typeface="Source Sans Pro"/>
              <a:ea typeface="Source Sans Pro"/>
              <a:cs typeface="Source Sans Pro"/>
              <a:sym typeface="Source Sans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445025"/>
            <a:ext cx="8520600" cy="602400"/>
          </a:xfrm>
          <a:prstGeom prst="rect">
            <a:avLst/>
          </a:prstGeom>
          <a:solidFill>
            <a:srgbClr val="6F2019"/>
          </a:solidFill>
          <a:ln cap="flat" cmpd="sng" w="9525">
            <a:solidFill>
              <a:srgbClr val="CDA74C"/>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SzPts val="990"/>
              <a:buNone/>
            </a:pPr>
            <a:r>
              <a:rPr b="0" lang="en" sz="2200">
                <a:solidFill>
                  <a:schemeClr val="lt1"/>
                </a:solidFill>
                <a:latin typeface="Times New Roman"/>
                <a:ea typeface="Times New Roman"/>
                <a:cs typeface="Times New Roman"/>
                <a:sym typeface="Times New Roman"/>
              </a:rPr>
              <a:t>Appointment Concentration: Weekend and Evening Insights</a:t>
            </a:r>
            <a:endParaRPr b="0" sz="2200">
              <a:solidFill>
                <a:schemeClr val="lt1"/>
              </a:solidFill>
              <a:latin typeface="Times New Roman"/>
              <a:ea typeface="Times New Roman"/>
              <a:cs typeface="Times New Roman"/>
              <a:sym typeface="Times New Roman"/>
            </a:endParaRPr>
          </a:p>
        </p:txBody>
      </p:sp>
      <p:sp>
        <p:nvSpPr>
          <p:cNvPr id="108" name="Google Shape;108;p19"/>
          <p:cNvSpPr txBox="1"/>
          <p:nvPr/>
        </p:nvSpPr>
        <p:spPr>
          <a:xfrm>
            <a:off x="440100" y="3994925"/>
            <a:ext cx="81495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Times New Roman"/>
                <a:ea typeface="Times New Roman"/>
                <a:cs typeface="Times New Roman"/>
                <a:sym typeface="Times New Roman"/>
              </a:rPr>
              <a:t>At JJ Beauty Salon, weekends clearly dominate appointment bookings, with more than half of all visits concentrated on Saturday (29.4%) and Sunday (26.1%), confirming these days as the peak periods of activity. In addition to the weekend surge, there is also a strong concentration of appointments during the late afternoon to early evening hours, particularly between 5:00 PM and 6:30 PM. The sharpest spike is observed around 5:30 PM, reflecting customer preferences for visiting after work or school, when it is most convenient for them.</a:t>
            </a:r>
            <a:endParaRPr sz="1200">
              <a:solidFill>
                <a:schemeClr val="dk2"/>
              </a:solidFill>
              <a:latin typeface="Times New Roman"/>
              <a:ea typeface="Times New Roman"/>
              <a:cs typeface="Times New Roman"/>
              <a:sym typeface="Times New Roman"/>
            </a:endParaRPr>
          </a:p>
        </p:txBody>
      </p:sp>
      <p:sp>
        <p:nvSpPr>
          <p:cNvPr id="109" name="Google Shape;109;p1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10" name="Google Shape;110;p19"/>
          <p:cNvPicPr preferRelativeResize="0"/>
          <p:nvPr/>
        </p:nvPicPr>
        <p:blipFill>
          <a:blip r:embed="rId3">
            <a:alphaModFix/>
          </a:blip>
          <a:stretch>
            <a:fillRect/>
          </a:stretch>
        </p:blipFill>
        <p:spPr>
          <a:xfrm>
            <a:off x="311700" y="1301750"/>
            <a:ext cx="4260299" cy="2539390"/>
          </a:xfrm>
          <a:prstGeom prst="rect">
            <a:avLst/>
          </a:prstGeom>
          <a:noFill/>
          <a:ln>
            <a:noFill/>
          </a:ln>
        </p:spPr>
      </p:pic>
      <p:pic>
        <p:nvPicPr>
          <p:cNvPr id="111" name="Google Shape;111;p19"/>
          <p:cNvPicPr preferRelativeResize="0"/>
          <p:nvPr/>
        </p:nvPicPr>
        <p:blipFill rotWithShape="1">
          <a:blip r:embed="rId4">
            <a:alphaModFix/>
          </a:blip>
          <a:srcRect b="0" l="1940" r="-1940" t="-4123"/>
          <a:stretch/>
        </p:blipFill>
        <p:spPr>
          <a:xfrm>
            <a:off x="4708900" y="1251475"/>
            <a:ext cx="3937850" cy="2539400"/>
          </a:xfrm>
          <a:prstGeom prst="rect">
            <a:avLst/>
          </a:prstGeom>
          <a:noFill/>
          <a:ln>
            <a:noFill/>
          </a:ln>
        </p:spPr>
      </p:pic>
      <p:sp>
        <p:nvSpPr>
          <p:cNvPr id="112" name="Google Shape;112;p19"/>
          <p:cNvSpPr txBox="1"/>
          <p:nvPr/>
        </p:nvSpPr>
        <p:spPr>
          <a:xfrm>
            <a:off x="2077250" y="3790875"/>
            <a:ext cx="61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Source Sans Pro"/>
                <a:ea typeface="Source Sans Pro"/>
                <a:cs typeface="Source Sans Pro"/>
                <a:sym typeface="Source Sans Pro"/>
              </a:rPr>
              <a:t>Figure 4</a:t>
            </a:r>
            <a:endParaRPr sz="700">
              <a:solidFill>
                <a:schemeClr val="lt2"/>
              </a:solidFill>
              <a:latin typeface="Source Sans Pro"/>
              <a:ea typeface="Source Sans Pro"/>
              <a:cs typeface="Source Sans Pro"/>
              <a:sym typeface="Source Sans Pro"/>
            </a:endParaRPr>
          </a:p>
        </p:txBody>
      </p:sp>
      <p:sp>
        <p:nvSpPr>
          <p:cNvPr id="113" name="Google Shape;113;p19"/>
          <p:cNvSpPr txBox="1"/>
          <p:nvPr/>
        </p:nvSpPr>
        <p:spPr>
          <a:xfrm>
            <a:off x="6525425" y="3790875"/>
            <a:ext cx="61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Source Sans Pro"/>
                <a:ea typeface="Source Sans Pro"/>
                <a:cs typeface="Source Sans Pro"/>
                <a:sym typeface="Source Sans Pro"/>
              </a:rPr>
              <a:t>Figure 5</a:t>
            </a:r>
            <a:endParaRPr sz="700">
              <a:solidFill>
                <a:schemeClr val="lt2"/>
              </a:solidFill>
              <a:latin typeface="Source Sans Pro"/>
              <a:ea typeface="Source Sans Pro"/>
              <a:cs typeface="Source Sans Pro"/>
              <a:sym typeface="Source Sans Pr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1700" y="445025"/>
            <a:ext cx="8520600" cy="602400"/>
          </a:xfrm>
          <a:prstGeom prst="rect">
            <a:avLst/>
          </a:prstGeom>
          <a:solidFill>
            <a:srgbClr val="6F2019"/>
          </a:solidFill>
          <a:ln cap="flat" cmpd="sng" w="9525">
            <a:solidFill>
              <a:srgbClr val="CDA74C"/>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200">
                <a:solidFill>
                  <a:schemeClr val="lt1"/>
                </a:solidFill>
                <a:latin typeface="Times New Roman"/>
                <a:ea typeface="Times New Roman"/>
                <a:cs typeface="Times New Roman"/>
                <a:sym typeface="Times New Roman"/>
              </a:rPr>
              <a:t>Recommendations</a:t>
            </a:r>
            <a:endParaRPr sz="2200">
              <a:solidFill>
                <a:schemeClr val="lt1"/>
              </a:solidFill>
              <a:latin typeface="Times New Roman"/>
              <a:ea typeface="Times New Roman"/>
              <a:cs typeface="Times New Roman"/>
              <a:sym typeface="Times New Roman"/>
            </a:endParaRPr>
          </a:p>
        </p:txBody>
      </p:sp>
      <p:sp>
        <p:nvSpPr>
          <p:cNvPr id="119" name="Google Shape;119;p20"/>
          <p:cNvSpPr txBox="1"/>
          <p:nvPr/>
        </p:nvSpPr>
        <p:spPr>
          <a:xfrm>
            <a:off x="440100" y="1330325"/>
            <a:ext cx="3782700" cy="367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2"/>
              </a:buClr>
              <a:buSzPts val="1100"/>
              <a:buFont typeface="Arial"/>
              <a:buNone/>
            </a:pPr>
            <a:r>
              <a:rPr b="1" lang="en">
                <a:solidFill>
                  <a:srgbClr val="CDA74C"/>
                </a:solidFill>
                <a:latin typeface="Times New Roman"/>
                <a:ea typeface="Times New Roman"/>
                <a:cs typeface="Times New Roman"/>
                <a:sym typeface="Times New Roman"/>
              </a:rPr>
              <a:t>Service and Staffing Optimization</a:t>
            </a:r>
            <a:endParaRPr b="1">
              <a:solidFill>
                <a:srgbClr val="CDA74C"/>
              </a:solidFill>
              <a:latin typeface="Times New Roman"/>
              <a:ea typeface="Times New Roman"/>
              <a:cs typeface="Times New Roman"/>
              <a:sym typeface="Times New Roman"/>
            </a:endParaRPr>
          </a:p>
          <a:p>
            <a:pPr indent="-304800" lvl="0" marL="457200" rtl="0" algn="l">
              <a:lnSpc>
                <a:spcPct val="100000"/>
              </a:lnSpc>
              <a:spcBef>
                <a:spcPts val="1200"/>
              </a:spcBef>
              <a:spcAft>
                <a:spcPts val="0"/>
              </a:spcAft>
              <a:buClr>
                <a:schemeClr val="dk2"/>
              </a:buClr>
              <a:buSzPts val="1200"/>
              <a:buFont typeface="Times New Roman"/>
              <a:buChar char="●"/>
            </a:pPr>
            <a:r>
              <a:rPr b="1" lang="en" sz="1200">
                <a:solidFill>
                  <a:schemeClr val="dk2"/>
                </a:solidFill>
                <a:latin typeface="Times New Roman"/>
                <a:ea typeface="Times New Roman"/>
                <a:cs typeface="Times New Roman"/>
                <a:sym typeface="Times New Roman"/>
              </a:rPr>
              <a:t>Segment Services:</a:t>
            </a:r>
            <a:r>
              <a:rPr lang="en" sz="1200">
                <a:solidFill>
                  <a:schemeClr val="dk2"/>
                </a:solidFill>
                <a:latin typeface="Times New Roman"/>
                <a:ea typeface="Times New Roman"/>
                <a:cs typeface="Times New Roman"/>
                <a:sym typeface="Times New Roman"/>
              </a:rPr>
              <a:t> Identify high-frequency and high-margin services.</a:t>
            </a:r>
            <a:br>
              <a:rPr lang="en" sz="1200">
                <a:solidFill>
                  <a:schemeClr val="dk2"/>
                </a:solidFill>
                <a:latin typeface="Times New Roman"/>
                <a:ea typeface="Times New Roman"/>
                <a:cs typeface="Times New Roman"/>
                <a:sym typeface="Times New Roman"/>
              </a:rPr>
            </a:br>
            <a:endParaRPr sz="1200">
              <a:solidFill>
                <a:schemeClr val="dk2"/>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2"/>
              </a:buClr>
              <a:buSzPts val="1200"/>
              <a:buFont typeface="Times New Roman"/>
              <a:buChar char="●"/>
            </a:pPr>
            <a:r>
              <a:rPr b="1" lang="en" sz="1200">
                <a:solidFill>
                  <a:schemeClr val="dk2"/>
                </a:solidFill>
                <a:latin typeface="Times New Roman"/>
                <a:ea typeface="Times New Roman"/>
                <a:cs typeface="Times New Roman"/>
                <a:sym typeface="Times New Roman"/>
              </a:rPr>
              <a:t>Allocate Staff:</a:t>
            </a:r>
            <a:r>
              <a:rPr lang="en" sz="1200">
                <a:solidFill>
                  <a:schemeClr val="dk2"/>
                </a:solidFill>
                <a:latin typeface="Times New Roman"/>
                <a:ea typeface="Times New Roman"/>
                <a:cs typeface="Times New Roman"/>
                <a:sym typeface="Times New Roman"/>
              </a:rPr>
              <a:t> Assign quick staff to frequent services and schedule high-margin services during low-traffic hours.</a:t>
            </a:r>
            <a:br>
              <a:rPr lang="en" sz="1200">
                <a:solidFill>
                  <a:schemeClr val="dk2"/>
                </a:solidFill>
                <a:latin typeface="Times New Roman"/>
                <a:ea typeface="Times New Roman"/>
                <a:cs typeface="Times New Roman"/>
                <a:sym typeface="Times New Roman"/>
              </a:rPr>
            </a:br>
            <a:endParaRPr sz="1200">
              <a:solidFill>
                <a:schemeClr val="dk2"/>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2"/>
              </a:buClr>
              <a:buSzPts val="1200"/>
              <a:buFont typeface="Times New Roman"/>
              <a:buChar char="●"/>
            </a:pPr>
            <a:r>
              <a:rPr b="1" lang="en" sz="1200">
                <a:solidFill>
                  <a:schemeClr val="dk2"/>
                </a:solidFill>
                <a:latin typeface="Times New Roman"/>
                <a:ea typeface="Times New Roman"/>
                <a:cs typeface="Times New Roman"/>
                <a:sym typeface="Times New Roman"/>
              </a:rPr>
              <a:t>Review Long Services:</a:t>
            </a:r>
            <a:r>
              <a:rPr lang="en" sz="1200">
                <a:solidFill>
                  <a:schemeClr val="dk2"/>
                </a:solidFill>
                <a:latin typeface="Times New Roman"/>
                <a:ea typeface="Times New Roman"/>
                <a:cs typeface="Times New Roman"/>
                <a:sym typeface="Times New Roman"/>
              </a:rPr>
              <a:t> Adjust pricing or consider bundling for time-consuming services.</a:t>
            </a:r>
            <a:br>
              <a:rPr lang="en" sz="1200">
                <a:solidFill>
                  <a:schemeClr val="dk2"/>
                </a:solidFill>
                <a:latin typeface="Times New Roman"/>
                <a:ea typeface="Times New Roman"/>
                <a:cs typeface="Times New Roman"/>
                <a:sym typeface="Times New Roman"/>
              </a:rPr>
            </a:br>
            <a:endParaRPr sz="1200">
              <a:solidFill>
                <a:schemeClr val="dk2"/>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2"/>
              </a:buClr>
              <a:buSzPts val="1200"/>
              <a:buFont typeface="Times New Roman"/>
              <a:buChar char="●"/>
            </a:pPr>
            <a:r>
              <a:rPr b="1" lang="en" sz="1200">
                <a:solidFill>
                  <a:schemeClr val="dk2"/>
                </a:solidFill>
                <a:latin typeface="Times New Roman"/>
                <a:ea typeface="Times New Roman"/>
                <a:cs typeface="Times New Roman"/>
                <a:sym typeface="Times New Roman"/>
              </a:rPr>
              <a:t>Adjust Staffing:</a:t>
            </a:r>
            <a:r>
              <a:rPr lang="en" sz="1200">
                <a:solidFill>
                  <a:schemeClr val="dk2"/>
                </a:solidFill>
                <a:latin typeface="Times New Roman"/>
                <a:ea typeface="Times New Roman"/>
                <a:cs typeface="Times New Roman"/>
                <a:sym typeface="Times New Roman"/>
              </a:rPr>
              <a:t> Increase weekend coverage, use midweek for internal tasks, and align shifts with peak hours (5:00–6:30 PM).</a:t>
            </a:r>
            <a:endParaRPr sz="1200">
              <a:solidFill>
                <a:schemeClr val="dk2"/>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2"/>
              </a:buClr>
              <a:buSzPts val="1100"/>
              <a:buFont typeface="Arial"/>
              <a:buNone/>
            </a:pPr>
            <a:r>
              <a:t/>
            </a:r>
            <a:endParaRPr sz="1200">
              <a:solidFill>
                <a:schemeClr val="dk2"/>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2"/>
              </a:solidFill>
              <a:latin typeface="Times New Roman"/>
              <a:ea typeface="Times New Roman"/>
              <a:cs typeface="Times New Roman"/>
              <a:sym typeface="Times New Roman"/>
            </a:endParaRPr>
          </a:p>
        </p:txBody>
      </p:sp>
      <p:sp>
        <p:nvSpPr>
          <p:cNvPr id="120" name="Google Shape;120;p2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21" name="Google Shape;121;p20"/>
          <p:cNvSpPr txBox="1"/>
          <p:nvPr/>
        </p:nvSpPr>
        <p:spPr>
          <a:xfrm>
            <a:off x="4088700" y="1263650"/>
            <a:ext cx="4743600" cy="353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2"/>
              </a:buClr>
              <a:buSzPts val="1100"/>
              <a:buFont typeface="Arial"/>
              <a:buNone/>
            </a:pPr>
            <a:r>
              <a:rPr b="1" lang="en">
                <a:solidFill>
                  <a:srgbClr val="CDA74C"/>
                </a:solidFill>
                <a:latin typeface="Times New Roman"/>
                <a:ea typeface="Times New Roman"/>
                <a:cs typeface="Times New Roman"/>
                <a:sym typeface="Times New Roman"/>
              </a:rPr>
              <a:t>Inventory Planning</a:t>
            </a:r>
            <a:endParaRPr b="1">
              <a:solidFill>
                <a:srgbClr val="CDA74C"/>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chemeClr val="dk2"/>
              </a:buClr>
              <a:buSzPts val="1200"/>
              <a:buChar char="●"/>
            </a:pPr>
            <a:r>
              <a:rPr b="1" lang="en" sz="1200">
                <a:solidFill>
                  <a:schemeClr val="dk2"/>
                </a:solidFill>
                <a:latin typeface="Times New Roman"/>
                <a:ea typeface="Times New Roman"/>
                <a:cs typeface="Times New Roman"/>
                <a:sym typeface="Times New Roman"/>
              </a:rPr>
              <a:t>Prioritize High-Impact Items:</a:t>
            </a:r>
            <a:r>
              <a:rPr lang="en" sz="1200">
                <a:solidFill>
                  <a:schemeClr val="dk2"/>
                </a:solidFill>
                <a:latin typeface="Times New Roman"/>
                <a:ea typeface="Times New Roman"/>
                <a:cs typeface="Times New Roman"/>
                <a:sym typeface="Times New Roman"/>
              </a:rPr>
              <a:t> Focus procurement on 'A' and 'B' category items from the ABC inventory classification, especially the Keratin Kit and Makeup Kit, which together account for over 70% of total inventory costs.</a:t>
            </a:r>
            <a:br>
              <a:rPr lang="en" sz="1200">
                <a:solidFill>
                  <a:schemeClr val="dk2"/>
                </a:solidFill>
                <a:latin typeface="Times New Roman"/>
                <a:ea typeface="Times New Roman"/>
                <a:cs typeface="Times New Roman"/>
                <a:sym typeface="Times New Roman"/>
              </a:rPr>
            </a:br>
            <a:endParaRPr sz="1200">
              <a:solidFill>
                <a:schemeClr val="dk2"/>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2"/>
              </a:buClr>
              <a:buSzPts val="1200"/>
              <a:buChar char="●"/>
            </a:pPr>
            <a:r>
              <a:rPr b="1" lang="en" sz="1200">
                <a:solidFill>
                  <a:schemeClr val="dk2"/>
                </a:solidFill>
                <a:latin typeface="Times New Roman"/>
                <a:ea typeface="Times New Roman"/>
                <a:cs typeface="Times New Roman"/>
                <a:sym typeface="Times New Roman"/>
              </a:rPr>
              <a:t>Ensure Service Continuity:</a:t>
            </a:r>
            <a:r>
              <a:rPr lang="en" sz="1200">
                <a:solidFill>
                  <a:schemeClr val="dk2"/>
                </a:solidFill>
                <a:latin typeface="Times New Roman"/>
                <a:ea typeface="Times New Roman"/>
                <a:cs typeface="Times New Roman"/>
                <a:sym typeface="Times New Roman"/>
              </a:rPr>
              <a:t> Maintain consistent availability of these critical items to support uninterrupted delivery of high-revenue services like Keratin Treatments and Bridal Makeup, which are key to overall business performance.</a:t>
            </a:r>
            <a:br>
              <a:rPr lang="en" sz="1200">
                <a:solidFill>
                  <a:schemeClr val="dk2"/>
                </a:solidFill>
                <a:latin typeface="Times New Roman"/>
                <a:ea typeface="Times New Roman"/>
                <a:cs typeface="Times New Roman"/>
                <a:sym typeface="Times New Roman"/>
              </a:rPr>
            </a:br>
            <a:endParaRPr sz="1200">
              <a:solidFill>
                <a:schemeClr val="dk2"/>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2"/>
              </a:buClr>
              <a:buSzPts val="1200"/>
              <a:buChar char="●"/>
            </a:pPr>
            <a:r>
              <a:rPr b="1" lang="en" sz="1200">
                <a:solidFill>
                  <a:schemeClr val="dk2"/>
                </a:solidFill>
                <a:latin typeface="Times New Roman"/>
                <a:ea typeface="Times New Roman"/>
                <a:cs typeface="Times New Roman"/>
                <a:sym typeface="Times New Roman"/>
              </a:rPr>
              <a:t>Monitor Low-Consumption Items:</a:t>
            </a:r>
            <a:r>
              <a:rPr lang="en" sz="1200">
                <a:solidFill>
                  <a:schemeClr val="dk2"/>
                </a:solidFill>
                <a:latin typeface="Times New Roman"/>
                <a:ea typeface="Times New Roman"/>
                <a:cs typeface="Times New Roman"/>
                <a:sym typeface="Times New Roman"/>
              </a:rPr>
              <a:t> Keep track of low-consumption supplies such as threads, nail polishes, oils, and other minor items to prevent overstocking and reduce unnecessary inventory costs.</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11700" y="445025"/>
            <a:ext cx="8520600" cy="602400"/>
          </a:xfrm>
          <a:prstGeom prst="rect">
            <a:avLst/>
          </a:prstGeom>
          <a:solidFill>
            <a:srgbClr val="6F2019"/>
          </a:solidFill>
          <a:ln cap="flat" cmpd="sng" w="9525">
            <a:solidFill>
              <a:srgbClr val="CDA74C"/>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200">
                <a:solidFill>
                  <a:schemeClr val="lt1"/>
                </a:solidFill>
                <a:latin typeface="Times New Roman"/>
                <a:ea typeface="Times New Roman"/>
                <a:cs typeface="Times New Roman"/>
                <a:sym typeface="Times New Roman"/>
              </a:rPr>
              <a:t>Recommendations</a:t>
            </a:r>
            <a:endParaRPr sz="2200">
              <a:solidFill>
                <a:schemeClr val="lt1"/>
              </a:solidFill>
              <a:latin typeface="Times New Roman"/>
              <a:ea typeface="Times New Roman"/>
              <a:cs typeface="Times New Roman"/>
              <a:sym typeface="Times New Roman"/>
            </a:endParaRPr>
          </a:p>
        </p:txBody>
      </p:sp>
      <p:sp>
        <p:nvSpPr>
          <p:cNvPr id="127" name="Google Shape;127;p21"/>
          <p:cNvSpPr txBox="1"/>
          <p:nvPr/>
        </p:nvSpPr>
        <p:spPr>
          <a:xfrm>
            <a:off x="421050" y="1263650"/>
            <a:ext cx="3706500" cy="37248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1400"/>
              </a:spcBef>
              <a:spcAft>
                <a:spcPts val="0"/>
              </a:spcAft>
              <a:buNone/>
            </a:pPr>
            <a:r>
              <a:rPr b="1" lang="en">
                <a:solidFill>
                  <a:srgbClr val="CDA74C"/>
                </a:solidFill>
                <a:latin typeface="Times New Roman"/>
                <a:ea typeface="Times New Roman"/>
                <a:cs typeface="Times New Roman"/>
                <a:sym typeface="Times New Roman"/>
              </a:rPr>
              <a:t>Client Demand, Promotions, and Service Packages</a:t>
            </a:r>
            <a:endParaRPr b="1">
              <a:solidFill>
                <a:srgbClr val="CDA74C"/>
              </a:solidFill>
              <a:latin typeface="Times New Roman"/>
              <a:ea typeface="Times New Roman"/>
              <a:cs typeface="Times New Roman"/>
              <a:sym typeface="Times New Roman"/>
            </a:endParaRPr>
          </a:p>
          <a:p>
            <a:pPr indent="-304800" lvl="0" marL="457200" rtl="0" algn="l">
              <a:lnSpc>
                <a:spcPct val="100000"/>
              </a:lnSpc>
              <a:spcBef>
                <a:spcPts val="1200"/>
              </a:spcBef>
              <a:spcAft>
                <a:spcPts val="0"/>
              </a:spcAft>
              <a:buClr>
                <a:schemeClr val="dk2"/>
              </a:buClr>
              <a:buSzPts val="1200"/>
              <a:buChar char="●"/>
            </a:pPr>
            <a:r>
              <a:rPr b="1" lang="en" sz="1200">
                <a:solidFill>
                  <a:schemeClr val="dk2"/>
                </a:solidFill>
                <a:latin typeface="Times New Roman"/>
                <a:ea typeface="Times New Roman"/>
                <a:cs typeface="Times New Roman"/>
                <a:sym typeface="Times New Roman"/>
              </a:rPr>
              <a:t>Weekday Offers:</a:t>
            </a:r>
            <a:r>
              <a:rPr lang="en" sz="1200">
                <a:solidFill>
                  <a:schemeClr val="dk2"/>
                </a:solidFill>
                <a:latin typeface="Times New Roman"/>
                <a:ea typeface="Times New Roman"/>
                <a:cs typeface="Times New Roman"/>
                <a:sym typeface="Times New Roman"/>
              </a:rPr>
              <a:t> Create promotions to attract clients during slow periods.</a:t>
            </a:r>
            <a:br>
              <a:rPr lang="en" sz="1200">
                <a:solidFill>
                  <a:schemeClr val="dk2"/>
                </a:solidFill>
                <a:latin typeface="Times New Roman"/>
                <a:ea typeface="Times New Roman"/>
                <a:cs typeface="Times New Roman"/>
                <a:sym typeface="Times New Roman"/>
              </a:rPr>
            </a:br>
            <a:endParaRPr sz="1200">
              <a:solidFill>
                <a:schemeClr val="dk2"/>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2"/>
              </a:buClr>
              <a:buSzPts val="1200"/>
              <a:buChar char="●"/>
            </a:pPr>
            <a:r>
              <a:rPr b="1" lang="en" sz="1200">
                <a:solidFill>
                  <a:schemeClr val="dk2"/>
                </a:solidFill>
                <a:latin typeface="Times New Roman"/>
                <a:ea typeface="Times New Roman"/>
                <a:cs typeface="Times New Roman"/>
                <a:sym typeface="Times New Roman"/>
              </a:rPr>
              <a:t>Peak-Hour Management:</a:t>
            </a:r>
            <a:r>
              <a:rPr lang="en" sz="1200">
                <a:solidFill>
                  <a:schemeClr val="dk2"/>
                </a:solidFill>
                <a:latin typeface="Times New Roman"/>
                <a:ea typeface="Times New Roman"/>
                <a:cs typeface="Times New Roman"/>
                <a:sym typeface="Times New Roman"/>
              </a:rPr>
              <a:t> Use pricing or reservation incentives to handle busy times.</a:t>
            </a:r>
            <a:br>
              <a:rPr lang="en" sz="1200">
                <a:solidFill>
                  <a:schemeClr val="dk2"/>
                </a:solidFill>
                <a:latin typeface="Times New Roman"/>
                <a:ea typeface="Times New Roman"/>
                <a:cs typeface="Times New Roman"/>
                <a:sym typeface="Times New Roman"/>
              </a:rPr>
            </a:br>
            <a:endParaRPr sz="1200">
              <a:solidFill>
                <a:schemeClr val="dk2"/>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2"/>
              </a:buClr>
              <a:buSzPts val="1200"/>
              <a:buChar char="●"/>
            </a:pPr>
            <a:r>
              <a:rPr b="1" lang="en" sz="1200">
                <a:solidFill>
                  <a:schemeClr val="dk2"/>
                </a:solidFill>
                <a:latin typeface="Times New Roman"/>
                <a:ea typeface="Times New Roman"/>
                <a:cs typeface="Times New Roman"/>
                <a:sym typeface="Times New Roman"/>
              </a:rPr>
              <a:t>Marketing Timing:</a:t>
            </a:r>
            <a:r>
              <a:rPr lang="en" sz="1200">
                <a:solidFill>
                  <a:schemeClr val="dk2"/>
                </a:solidFill>
                <a:latin typeface="Times New Roman"/>
                <a:ea typeface="Times New Roman"/>
                <a:cs typeface="Times New Roman"/>
                <a:sym typeface="Times New Roman"/>
              </a:rPr>
              <a:t> Base campaigns on client visit patterns.</a:t>
            </a:r>
            <a:br>
              <a:rPr lang="en" sz="1200">
                <a:solidFill>
                  <a:schemeClr val="dk2"/>
                </a:solidFill>
                <a:latin typeface="Times New Roman"/>
                <a:ea typeface="Times New Roman"/>
                <a:cs typeface="Times New Roman"/>
                <a:sym typeface="Times New Roman"/>
              </a:rPr>
            </a:br>
            <a:endParaRPr sz="1200">
              <a:solidFill>
                <a:schemeClr val="dk2"/>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2"/>
              </a:buClr>
              <a:buSzPts val="1200"/>
              <a:buChar char="●"/>
            </a:pPr>
            <a:r>
              <a:rPr b="1" lang="en" sz="1200">
                <a:solidFill>
                  <a:schemeClr val="dk2"/>
                </a:solidFill>
                <a:latin typeface="Times New Roman"/>
                <a:ea typeface="Times New Roman"/>
                <a:cs typeface="Times New Roman"/>
                <a:sym typeface="Times New Roman"/>
              </a:rPr>
              <a:t>Bundled Packages:</a:t>
            </a:r>
            <a:r>
              <a:rPr lang="en" sz="1200">
                <a:solidFill>
                  <a:schemeClr val="dk2"/>
                </a:solidFill>
                <a:latin typeface="Times New Roman"/>
                <a:ea typeface="Times New Roman"/>
                <a:cs typeface="Times New Roman"/>
                <a:sym typeface="Times New Roman"/>
              </a:rPr>
              <a:t> Offer service combos, bridal/event packages, or loyalty deals to increase bookings.</a:t>
            </a:r>
            <a:br>
              <a:rPr lang="en" sz="1200">
                <a:solidFill>
                  <a:schemeClr val="dk2"/>
                </a:solidFill>
                <a:latin typeface="Times New Roman"/>
                <a:ea typeface="Times New Roman"/>
                <a:cs typeface="Times New Roman"/>
                <a:sym typeface="Times New Roman"/>
              </a:rPr>
            </a:br>
            <a:endParaRPr sz="1200">
              <a:solidFill>
                <a:schemeClr val="dk2"/>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2"/>
              </a:buClr>
              <a:buSzPts val="1200"/>
              <a:buChar char="●"/>
            </a:pPr>
            <a:r>
              <a:rPr b="1" lang="en" sz="1200">
                <a:solidFill>
                  <a:schemeClr val="dk2"/>
                </a:solidFill>
                <a:latin typeface="Times New Roman"/>
                <a:ea typeface="Times New Roman"/>
                <a:cs typeface="Times New Roman"/>
                <a:sym typeface="Times New Roman"/>
              </a:rPr>
              <a:t>Off-Peak Promotions:</a:t>
            </a:r>
            <a:r>
              <a:rPr lang="en" sz="1200">
                <a:solidFill>
                  <a:schemeClr val="dk2"/>
                </a:solidFill>
                <a:latin typeface="Times New Roman"/>
                <a:ea typeface="Times New Roman"/>
                <a:cs typeface="Times New Roman"/>
                <a:sym typeface="Times New Roman"/>
              </a:rPr>
              <a:t> Fill low-demand slots with discounted packages to maximize resource use.</a:t>
            </a:r>
            <a:endParaRPr sz="1200">
              <a:solidFill>
                <a:schemeClr val="dk2"/>
              </a:solidFill>
              <a:latin typeface="Times New Roman"/>
              <a:ea typeface="Times New Roman"/>
              <a:cs typeface="Times New Roman"/>
              <a:sym typeface="Times New Roman"/>
            </a:endParaRPr>
          </a:p>
        </p:txBody>
      </p:sp>
      <p:sp>
        <p:nvSpPr>
          <p:cNvPr id="128" name="Google Shape;128;p2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29" name="Google Shape;129;p21"/>
          <p:cNvSpPr txBox="1"/>
          <p:nvPr/>
        </p:nvSpPr>
        <p:spPr>
          <a:xfrm>
            <a:off x="4270375" y="1263650"/>
            <a:ext cx="4410000" cy="332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solidFill>
                  <a:srgbClr val="CDA74C"/>
                </a:solidFill>
                <a:latin typeface="Times New Roman"/>
                <a:ea typeface="Times New Roman"/>
                <a:cs typeface="Times New Roman"/>
                <a:sym typeface="Times New Roman"/>
              </a:rPr>
              <a:t>Space Utilization</a:t>
            </a:r>
            <a:endParaRPr b="1">
              <a:solidFill>
                <a:srgbClr val="CDA74C"/>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chemeClr val="dk2"/>
              </a:buClr>
              <a:buSzPts val="1200"/>
              <a:buChar char="●"/>
            </a:pPr>
            <a:r>
              <a:rPr b="1" lang="en" sz="1200">
                <a:solidFill>
                  <a:schemeClr val="dk2"/>
                </a:solidFill>
                <a:latin typeface="Times New Roman"/>
                <a:ea typeface="Times New Roman"/>
                <a:cs typeface="Times New Roman"/>
                <a:sym typeface="Times New Roman"/>
              </a:rPr>
              <a:t>Optimize Layout:</a:t>
            </a:r>
            <a:r>
              <a:rPr lang="en" sz="1200">
                <a:solidFill>
                  <a:schemeClr val="dk2"/>
                </a:solidFill>
                <a:latin typeface="Times New Roman"/>
                <a:ea typeface="Times New Roman"/>
                <a:cs typeface="Times New Roman"/>
                <a:sym typeface="Times New Roman"/>
              </a:rPr>
              <a:t> Dedicate floor space to high-frequency services like threading that require minimal equipment but high turnover.</a:t>
            </a:r>
            <a:br>
              <a:rPr lang="en" sz="1200">
                <a:solidFill>
                  <a:schemeClr val="dk2"/>
                </a:solidFill>
                <a:latin typeface="Times New Roman"/>
                <a:ea typeface="Times New Roman"/>
                <a:cs typeface="Times New Roman"/>
                <a:sym typeface="Times New Roman"/>
              </a:rPr>
            </a:br>
            <a:endParaRPr sz="1200">
              <a:solidFill>
                <a:schemeClr val="dk2"/>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2"/>
              </a:buClr>
              <a:buSzPts val="1200"/>
              <a:buChar char="●"/>
            </a:pPr>
            <a:r>
              <a:rPr b="1" lang="en" sz="1200">
                <a:solidFill>
                  <a:schemeClr val="dk2"/>
                </a:solidFill>
                <a:latin typeface="Times New Roman"/>
                <a:ea typeface="Times New Roman"/>
                <a:cs typeface="Times New Roman"/>
                <a:sym typeface="Times New Roman"/>
              </a:rPr>
              <a:t>Flexible Furniture:</a:t>
            </a:r>
            <a:r>
              <a:rPr lang="en" sz="1200">
                <a:solidFill>
                  <a:schemeClr val="dk2"/>
                </a:solidFill>
                <a:latin typeface="Times New Roman"/>
                <a:ea typeface="Times New Roman"/>
                <a:cs typeface="Times New Roman"/>
                <a:sym typeface="Times New Roman"/>
              </a:rPr>
              <a:t> Use mobile trolleys and foldable furniture to free up space during service transitions.</a:t>
            </a:r>
            <a:br>
              <a:rPr lang="en" sz="1200">
                <a:solidFill>
                  <a:schemeClr val="dk2"/>
                </a:solidFill>
                <a:latin typeface="Times New Roman"/>
                <a:ea typeface="Times New Roman"/>
                <a:cs typeface="Times New Roman"/>
                <a:sym typeface="Times New Roman"/>
              </a:rPr>
            </a:br>
            <a:endParaRPr sz="1200">
              <a:solidFill>
                <a:schemeClr val="dk2"/>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2"/>
              </a:buClr>
              <a:buSzPts val="1200"/>
              <a:buChar char="●"/>
            </a:pPr>
            <a:r>
              <a:rPr b="1" lang="en" sz="1200">
                <a:solidFill>
                  <a:schemeClr val="dk2"/>
                </a:solidFill>
                <a:latin typeface="Times New Roman"/>
                <a:ea typeface="Times New Roman"/>
                <a:cs typeface="Times New Roman"/>
                <a:sym typeface="Times New Roman"/>
              </a:rPr>
              <a:t>Utilize Idle Areas:</a:t>
            </a:r>
            <a:r>
              <a:rPr lang="en" sz="1200">
                <a:solidFill>
                  <a:schemeClr val="dk2"/>
                </a:solidFill>
                <a:latin typeface="Times New Roman"/>
                <a:ea typeface="Times New Roman"/>
                <a:cs typeface="Times New Roman"/>
                <a:sym typeface="Times New Roman"/>
              </a:rPr>
              <a:t> Convert unused corners or reception space into quick-service zones for express treatments.</a:t>
            </a:r>
            <a:br>
              <a:rPr lang="en" sz="1200">
                <a:solidFill>
                  <a:schemeClr val="dk2"/>
                </a:solidFill>
                <a:latin typeface="Times New Roman"/>
                <a:ea typeface="Times New Roman"/>
                <a:cs typeface="Times New Roman"/>
                <a:sym typeface="Times New Roman"/>
              </a:rPr>
            </a:br>
            <a:endParaRPr sz="1200">
              <a:solidFill>
                <a:schemeClr val="dk2"/>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2"/>
              </a:buClr>
              <a:buSzPts val="1200"/>
              <a:buChar char="●"/>
            </a:pPr>
            <a:r>
              <a:rPr b="1" lang="en" sz="1200">
                <a:solidFill>
                  <a:schemeClr val="dk2"/>
                </a:solidFill>
                <a:latin typeface="Times New Roman"/>
                <a:ea typeface="Times New Roman"/>
                <a:cs typeface="Times New Roman"/>
                <a:sym typeface="Times New Roman"/>
              </a:rPr>
              <a:t>Inventory Management:</a:t>
            </a:r>
            <a:r>
              <a:rPr lang="en" sz="1200">
                <a:solidFill>
                  <a:schemeClr val="dk2"/>
                </a:solidFill>
                <a:latin typeface="Times New Roman"/>
                <a:ea typeface="Times New Roman"/>
                <a:cs typeface="Times New Roman"/>
                <a:sym typeface="Times New Roman"/>
              </a:rPr>
              <a:t> Store bulk inventory off-site, keeping only daily-use items at the salon to reduce congestion.</a:t>
            </a:r>
            <a:endParaRPr b="1" sz="1500">
              <a:solidFill>
                <a:srgbClr val="CDA74C"/>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83525" y="1786050"/>
            <a:ext cx="8499900" cy="7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2770">
                <a:latin typeface="Times New Roman"/>
                <a:ea typeface="Times New Roman"/>
                <a:cs typeface="Times New Roman"/>
                <a:sym typeface="Times New Roman"/>
              </a:rPr>
              <a:t>Thank you for your attention. Questions are welcome.</a:t>
            </a:r>
            <a:endParaRPr sz="2275">
              <a:latin typeface="Times New Roman"/>
              <a:ea typeface="Times New Roman"/>
              <a:cs typeface="Times New Roman"/>
              <a:sym typeface="Times New Roman"/>
            </a:endParaRPr>
          </a:p>
        </p:txBody>
      </p:sp>
      <p:sp>
        <p:nvSpPr>
          <p:cNvPr id="135" name="Google Shape;135;p22"/>
          <p:cNvSpPr txBox="1"/>
          <p:nvPr>
            <p:ph type="title"/>
          </p:nvPr>
        </p:nvSpPr>
        <p:spPr>
          <a:xfrm>
            <a:off x="3784600" y="4340225"/>
            <a:ext cx="5162700" cy="399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b="0" lang="en" sz="1600">
                <a:solidFill>
                  <a:schemeClr val="lt1"/>
                </a:solidFill>
                <a:latin typeface="Times New Roman"/>
                <a:ea typeface="Times New Roman"/>
                <a:cs typeface="Times New Roman"/>
                <a:sym typeface="Times New Roman"/>
              </a:rPr>
              <a:t>Kalavagunta Sai Sri Lekha </a:t>
            </a:r>
            <a:r>
              <a:rPr lang="en" sz="1600">
                <a:solidFill>
                  <a:schemeClr val="lt1"/>
                </a:solidFill>
                <a:latin typeface="Times New Roman"/>
                <a:ea typeface="Times New Roman"/>
                <a:cs typeface="Times New Roman"/>
                <a:sym typeface="Times New Roman"/>
              </a:rPr>
              <a:t>| </a:t>
            </a:r>
            <a:r>
              <a:rPr b="0" lang="en" sz="1600">
                <a:solidFill>
                  <a:schemeClr val="lt1"/>
                </a:solidFill>
                <a:latin typeface="Times New Roman"/>
                <a:ea typeface="Times New Roman"/>
                <a:cs typeface="Times New Roman"/>
                <a:sym typeface="Times New Roman"/>
              </a:rPr>
              <a:t>23f2003461@ds.study.iitm.ac.in</a:t>
            </a:r>
            <a:endParaRPr b="0" sz="1600">
              <a:solidFill>
                <a:schemeClr val="l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